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  <p:sldMasterId id="2147483741" r:id="rId5"/>
  </p:sldMasterIdLst>
  <p:notesMasterIdLst>
    <p:notesMasterId r:id="rId10"/>
  </p:notesMasterIdLst>
  <p:sldIdLst>
    <p:sldId id="432" r:id="rId6"/>
    <p:sldId id="434" r:id="rId7"/>
    <p:sldId id="435" r:id="rId8"/>
    <p:sldId id="43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" userDrawn="1">
          <p15:clr>
            <a:srgbClr val="A4A3A4"/>
          </p15:clr>
        </p15:guide>
        <p15:guide id="2" orient="horz" userDrawn="1">
          <p15:clr>
            <a:srgbClr val="A4A3A4"/>
          </p15:clr>
        </p15:guide>
        <p15:guide id="3" orient="horz" pos="4320" userDrawn="1">
          <p15:clr>
            <a:srgbClr val="A4A3A4"/>
          </p15:clr>
        </p15:guide>
        <p15:guide id="4" userDrawn="1">
          <p15:clr>
            <a:srgbClr val="A4A3A4"/>
          </p15:clr>
        </p15:guide>
        <p15:guide id="5" pos="7680" userDrawn="1">
          <p15:clr>
            <a:srgbClr val="A4A3A4"/>
          </p15:clr>
        </p15:guide>
        <p15:guide id="6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ge, Jacqueline" initials="EJ" lastIdx="1" clrIdx="0">
    <p:extLst>
      <p:ext uri="{19B8F6BF-5375-455C-9EA6-DF929625EA0E}">
        <p15:presenceInfo xmlns:p15="http://schemas.microsoft.com/office/powerpoint/2012/main" userId="S::jedge@ic.ac.uk::5f491ec5-376c-455d-9c78-6af8d3b330ec" providerId="AD"/>
      </p:ext>
    </p:extLst>
  </p:cmAuthor>
  <p:cmAuthor id="2" name="Yongxiu Chen (Metallurgy and Materials)" initials="YC(aM" lastIdx="1" clrIdx="1">
    <p:extLst>
      <p:ext uri="{19B8F6BF-5375-455C-9EA6-DF929625EA0E}">
        <p15:presenceInfo xmlns:p15="http://schemas.microsoft.com/office/powerpoint/2012/main" userId="S::y.chen.17@bham.ac.uk::b1f4dfa9-0335-4a0d-b877-4b384a127211" providerId="AD"/>
      </p:ext>
    </p:extLst>
  </p:cmAuthor>
  <p:cmAuthor id="3" name="M.mercer1" initials="M." lastIdx="1" clrIdx="2">
    <p:extLst>
      <p:ext uri="{19B8F6BF-5375-455C-9EA6-DF929625EA0E}">
        <p15:presenceInfo xmlns:p15="http://schemas.microsoft.com/office/powerpoint/2012/main" userId="S::m.mercer1_lancaster.ac.uk#ext#@imperiallondon.onmicrosoft.com::fb120186-2c16-4511-ab5c-233e86a4b12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0DA1"/>
    <a:srgbClr val="47ADC9"/>
    <a:srgbClr val="51564E"/>
    <a:srgbClr val="F40AB1"/>
    <a:srgbClr val="FF00FF"/>
    <a:srgbClr val="5B6058"/>
    <a:srgbClr val="444842"/>
    <a:srgbClr val="56B4CE"/>
    <a:srgbClr val="59B6CF"/>
    <a:srgbClr val="3BA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5"/>
    <p:restoredTop sz="94778"/>
  </p:normalViewPr>
  <p:slideViewPr>
    <p:cSldViewPr snapToGrid="0">
      <p:cViewPr>
        <p:scale>
          <a:sx n="209" d="100"/>
          <a:sy n="209" d="100"/>
        </p:scale>
        <p:origin x="3536" y="296"/>
      </p:cViewPr>
      <p:guideLst>
        <p:guide orient="horz" pos="192"/>
        <p:guide orient="horz"/>
        <p:guide orient="horz" pos="4320"/>
        <p:guide/>
        <p:guide pos="76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99AA1-1C21-7849-92F3-7C7D6DF74BE0}" type="datetimeFigureOut">
              <a:rPr lang="en-US" smtClean="0"/>
              <a:t>5/15/25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78877-DD89-C74C-8C6B-2C7CD9771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96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78877-DD89-C74C-8C6B-2C7CD9771E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19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7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emf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22A521-7572-AA44-95A7-2E9A3E61A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69743" y="5822575"/>
            <a:ext cx="4437138" cy="666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A729E-E15A-454E-B56F-10278930AE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6167628" cy="685799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95277A-5631-43FD-8D31-D98728372BEA}"/>
              </a:ext>
            </a:extLst>
          </p:cNvPr>
          <p:cNvSpPr txBox="1">
            <a:spLocks/>
          </p:cNvSpPr>
          <p:nvPr userDrawn="1"/>
        </p:nvSpPr>
        <p:spPr>
          <a:xfrm>
            <a:off x="333335" y="6359793"/>
            <a:ext cx="1911981" cy="2639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1800" b="1" i="0" kern="1200" baseline="0" dirty="0">
                <a:solidFill>
                  <a:srgbClr val="567483"/>
                </a:solidFill>
                <a:latin typeface="+mn-lt"/>
                <a:ea typeface="Roboto Light" panose="02000000000000000000" pitchFamily="2" charset="0"/>
                <a:cs typeface="Aharoni" panose="020B0604020202020204" pitchFamily="2" charset="-79"/>
              </a:defRPr>
            </a:lvl1pPr>
          </a:lstStyle>
          <a:p>
            <a:r>
              <a:rPr lang="en-GB" sz="900" b="0" i="1">
                <a:solidFill>
                  <a:schemeClr val="bg1"/>
                </a:solidFill>
              </a:rPr>
              <a:t>Nissan Leaf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775ECD-71E1-420C-A367-227228E754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0086" y="447675"/>
            <a:ext cx="5053288" cy="273136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A84AE98-7917-4111-A1F1-5AF046C3BB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63" y="3494434"/>
            <a:ext cx="5053011" cy="13537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Month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67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AA729E-E15A-454E-B56F-10278930AE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6167628" cy="685799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95277A-5631-43FD-8D31-D98728372BEA}"/>
              </a:ext>
            </a:extLst>
          </p:cNvPr>
          <p:cNvSpPr txBox="1">
            <a:spLocks/>
          </p:cNvSpPr>
          <p:nvPr userDrawn="1"/>
        </p:nvSpPr>
        <p:spPr>
          <a:xfrm>
            <a:off x="333335" y="6359793"/>
            <a:ext cx="1911981" cy="2639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1800" b="1" i="0" kern="1200" baseline="0" dirty="0">
                <a:solidFill>
                  <a:srgbClr val="567483"/>
                </a:solidFill>
                <a:latin typeface="+mn-lt"/>
                <a:ea typeface="Roboto Light" panose="02000000000000000000" pitchFamily="2" charset="0"/>
                <a:cs typeface="Aharoni" panose="020B0604020202020204" pitchFamily="2" charset="-79"/>
              </a:defRPr>
            </a:lvl1pPr>
          </a:lstStyle>
          <a:p>
            <a:r>
              <a:rPr lang="en-GB" sz="900" b="0" i="1">
                <a:solidFill>
                  <a:schemeClr val="bg1"/>
                </a:solidFill>
              </a:rPr>
              <a:t>Nissan Leaf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775ECD-71E1-420C-A367-227228E754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0086" y="447675"/>
            <a:ext cx="5053288" cy="273136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A84AE98-7917-4111-A1F1-5AF046C3BB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63" y="3494434"/>
            <a:ext cx="5053011" cy="13537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br>
              <a:rPr lang="en-US"/>
            </a:br>
            <a:r>
              <a:rPr lang="en-US"/>
              <a:t>Date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A5E38B-105C-4D49-919A-AF567B5442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4564" y="5675515"/>
            <a:ext cx="2410587" cy="5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669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F4C76-AF7E-4E5D-B1D1-1176A011A79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67136" y="1239521"/>
            <a:ext cx="11211784" cy="52533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6F259-C0BE-4EFF-9017-43D6A556E32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2" descr="Resultado de imagem para lancaster uni logo">
            <a:extLst>
              <a:ext uri="{FF2B5EF4-FFF2-40B4-BE49-F238E27FC236}">
                <a16:creationId xmlns:a16="http://schemas.microsoft.com/office/drawing/2014/main" id="{9CBAB415-542B-D0C4-F1C2-22B569EC61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2221" y="-7855"/>
            <a:ext cx="3036040" cy="40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009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80AF770-BB95-4234-9B72-C82FF2F3C2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8604" y="1239520"/>
            <a:ext cx="11210316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1298A-B090-4EEE-ABD9-2D9222767B1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2438" y="1801495"/>
            <a:ext cx="11206482" cy="46092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F0A9F-E325-4793-9F39-2D55CA4F215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35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01D14-1A4A-4FD6-85C4-DBBE8C14DDD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96631" y="1801496"/>
            <a:ext cx="5402976" cy="4691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804C9-ECA8-4A2B-8376-B7DDE3E3E47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2440" y="1801495"/>
            <a:ext cx="5412739" cy="4715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A286F2D-83B5-4B11-89E9-29B8A01265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40" y="1239520"/>
            <a:ext cx="5412739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5DCE721-73EE-4583-B0E4-F0E99298C2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6632" y="1239520"/>
            <a:ext cx="5412742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6BFD452-E1E4-4564-930D-50D6DF28F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49942-D5BA-40B9-824F-24560EBD43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3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437B-4BC7-4C58-BB18-547D3594B6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2441" y="1801496"/>
            <a:ext cx="3452164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2D4D8-0A1B-4222-A2FA-692FB52B9CE7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68605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25FF394-0A9A-4E65-B878-8F26F01429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305148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3793F22-E6BB-493E-BEF1-0E98EE5920E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54097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41B6293-8616-4B7A-A1A7-F68B99114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1C5E9-D86D-4939-A530-3A15F7A994F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05149" y="1801496"/>
            <a:ext cx="3456000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E057D-372F-4656-814F-2EB40825218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4097" y="1801496"/>
            <a:ext cx="3455276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52BDD-6550-487B-919D-273E23419AD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77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F4C76-AF7E-4E5D-B1D1-1176A011A79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67136" y="1239521"/>
            <a:ext cx="11211784" cy="52533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6F259-C0BE-4EFF-9017-43D6A556E32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15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80AF770-BB95-4234-9B72-C82FF2F3C2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8604" y="1239520"/>
            <a:ext cx="11210316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1298A-B090-4EEE-ABD9-2D9222767B1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2438" y="1801495"/>
            <a:ext cx="11206482" cy="46092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F0A9F-E325-4793-9F39-2D55CA4F215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66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01D14-1A4A-4FD6-85C4-DBBE8C14DDD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96631" y="1801496"/>
            <a:ext cx="5402976" cy="4691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804C9-ECA8-4A2B-8376-B7DDE3E3E47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2440" y="1801495"/>
            <a:ext cx="5412739" cy="4715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A286F2D-83B5-4B11-89E9-29B8A01265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40" y="1239520"/>
            <a:ext cx="5412739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5DCE721-73EE-4583-B0E4-F0E99298C2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6632" y="1239520"/>
            <a:ext cx="5412742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6BFD452-E1E4-4564-930D-50D6DF28F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49942-D5BA-40B9-824F-24560EBD43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3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437B-4BC7-4C58-BB18-547D3594B6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2441" y="1801496"/>
            <a:ext cx="3452164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2D4D8-0A1B-4222-A2FA-692FB52B9CE7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68605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25FF394-0A9A-4E65-B878-8F26F01429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305148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3793F22-E6BB-493E-BEF1-0E98EE5920E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54097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41B6293-8616-4B7A-A1A7-F68B99114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1C5E9-D86D-4939-A530-3A15F7A994F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05149" y="1801496"/>
            <a:ext cx="3456000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E057D-372F-4656-814F-2EB40825218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4097" y="1801496"/>
            <a:ext cx="3455276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52BDD-6550-487B-919D-273E23419AD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776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ISCF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D679-0582-42F7-B918-B0C73696D0D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1836" y="1239520"/>
            <a:ext cx="11217084" cy="525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2B56A-E976-4FB0-9C0F-1006E748E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048" r="25216" b="1"/>
          <a:stretch/>
        </p:blipFill>
        <p:spPr>
          <a:xfrm>
            <a:off x="9492219" y="0"/>
            <a:ext cx="2699781" cy="2417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10273-08C8-4EA8-8F77-615E39E16AA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5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rv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A2AA64-5EB0-41FC-AABC-931DCB72BD9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948904" y="3018157"/>
            <a:ext cx="3701627" cy="25818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F041D-BA31-427A-AC7B-A0133E5A896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8615680" cy="6858000"/>
          </a:xfrm>
          <a:custGeom>
            <a:avLst/>
            <a:gdLst>
              <a:gd name="connsiteX0" fmla="*/ 0 w 8615680"/>
              <a:gd name="connsiteY0" fmla="*/ 0 h 6872400"/>
              <a:gd name="connsiteX1" fmla="*/ 8615680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5634355 w 8615680"/>
              <a:gd name="connsiteY1" fmla="*/ 142875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  <a:gd name="connsiteX0" fmla="*/ 0 w 8615680"/>
              <a:gd name="connsiteY0" fmla="*/ 0 h 6872400"/>
              <a:gd name="connsiteX1" fmla="*/ 6910705 w 8615680"/>
              <a:gd name="connsiteY1" fmla="*/ 0 h 6872400"/>
              <a:gd name="connsiteX2" fmla="*/ 8615680 w 8615680"/>
              <a:gd name="connsiteY2" fmla="*/ 6872400 h 6872400"/>
              <a:gd name="connsiteX3" fmla="*/ 0 w 8615680"/>
              <a:gd name="connsiteY3" fmla="*/ 6872400 h 6872400"/>
              <a:gd name="connsiteX4" fmla="*/ 0 w 8615680"/>
              <a:gd name="connsiteY4" fmla="*/ 0 h 687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15680" h="6872400">
                <a:moveTo>
                  <a:pt x="0" y="0"/>
                </a:moveTo>
                <a:lnTo>
                  <a:pt x="6910705" y="0"/>
                </a:lnTo>
                <a:cubicBezTo>
                  <a:pt x="6583680" y="2319375"/>
                  <a:pt x="6904355" y="4943550"/>
                  <a:pt x="8615680" y="6872400"/>
                </a:cubicBezTo>
                <a:lnTo>
                  <a:pt x="0" y="68724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None/>
              <a:defRPr sz="1800"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48905" y="2500631"/>
            <a:ext cx="3699292" cy="517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9CE5ABC-A8EF-4F14-B8F0-374FBEFDE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948905" y="1681163"/>
            <a:ext cx="1083335" cy="706437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8D0A1-B1B9-44F1-9413-32ABE2AB5DA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17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v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14176-1D9E-47A1-B354-5E5F9479C4B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45466" y="3018156"/>
            <a:ext cx="3592853" cy="2635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D227A-B728-4033-91E5-4B8A425592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637280" y="0"/>
            <a:ext cx="8558530" cy="6858025"/>
          </a:xfrm>
          <a:custGeom>
            <a:avLst/>
            <a:gdLst>
              <a:gd name="connsiteX0" fmla="*/ 0 w 6868160"/>
              <a:gd name="connsiteY0" fmla="*/ 0 h 6864350"/>
              <a:gd name="connsiteX1" fmla="*/ 6868160 w 6868160"/>
              <a:gd name="connsiteY1" fmla="*/ 0 h 6864350"/>
              <a:gd name="connsiteX2" fmla="*/ 6868160 w 6868160"/>
              <a:gd name="connsiteY2" fmla="*/ 6864350 h 6864350"/>
              <a:gd name="connsiteX3" fmla="*/ 0 w 6868160"/>
              <a:gd name="connsiteY3" fmla="*/ 6864350 h 6864350"/>
              <a:gd name="connsiteX4" fmla="*/ 0 w 6868160"/>
              <a:gd name="connsiteY4" fmla="*/ 0 h 686435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554720 w 8554720"/>
              <a:gd name="connsiteY2" fmla="*/ 6864350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7609840 w 8554720"/>
              <a:gd name="connsiteY2" fmla="*/ 6029225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361680 w 8554720"/>
              <a:gd name="connsiteY2" fmla="*/ 6569001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8530"/>
              <a:gd name="connsiteY0" fmla="*/ 0 h 6874535"/>
              <a:gd name="connsiteX1" fmla="*/ 8554720 w 8558530"/>
              <a:gd name="connsiteY1" fmla="*/ 0 h 6874535"/>
              <a:gd name="connsiteX2" fmla="*/ 8558530 w 8558530"/>
              <a:gd name="connsiteY2" fmla="*/ 6874535 h 6874535"/>
              <a:gd name="connsiteX3" fmla="*/ 0 w 8558530"/>
              <a:gd name="connsiteY3" fmla="*/ 6874510 h 6874535"/>
              <a:gd name="connsiteX4" fmla="*/ 1686560 w 8558530"/>
              <a:gd name="connsiteY4" fmla="*/ 0 h 68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8530" h="6874535">
                <a:moveTo>
                  <a:pt x="1686560" y="0"/>
                </a:moveTo>
                <a:lnTo>
                  <a:pt x="8554720" y="0"/>
                </a:lnTo>
                <a:lnTo>
                  <a:pt x="8558530" y="6874535"/>
                </a:lnTo>
                <a:lnTo>
                  <a:pt x="0" y="6874510"/>
                </a:lnTo>
                <a:cubicBezTo>
                  <a:pt x="1337733" y="5321300"/>
                  <a:pt x="2167467" y="2660650"/>
                  <a:pt x="168656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0EA4457-D003-4978-BBE9-1D4CE13648B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074532" y="365126"/>
            <a:ext cx="576000" cy="576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465" y="2500631"/>
            <a:ext cx="3592854" cy="517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9CE5ABC-A8EF-4F14-B8F0-374FBEFDE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45465" y="1681163"/>
            <a:ext cx="1083335" cy="706437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EDBAF38E-4425-41FF-907A-6D52583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4820920" cy="540000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5BA27-A4CD-4EF3-B6A3-06E7AC39A8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65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D67FB-479B-4764-8498-129CEC6BCE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645493" y="2414076"/>
            <a:ext cx="4963877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64013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5494" y="1860551"/>
            <a:ext cx="4963879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>
            <a:off x="5229010" y="1561997"/>
            <a:ext cx="848773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1A45A-FD18-456B-9D2D-D62BD718E9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48C7-70CE-42AE-AB47-8E91549A254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963" y="2414078"/>
            <a:ext cx="4706799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97924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6964" y="1860551"/>
            <a:ext cx="4706798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 flipH="1">
            <a:off x="5975192" y="1561997"/>
            <a:ext cx="835200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2330E-ED7A-43C4-9E8C-FA31B4F4048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32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01D14-1A4A-4FD6-85C4-DBBE8C14DDD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96631" y="1801496"/>
            <a:ext cx="5402976" cy="4691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804C9-ECA8-4A2B-8376-B7DDE3E3E47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2440" y="1801495"/>
            <a:ext cx="5412739" cy="4715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A286F2D-83B5-4B11-89E9-29B8A01265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40" y="1239520"/>
            <a:ext cx="5412739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5DCE721-73EE-4583-B0E4-F0E99298C2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6632" y="1239520"/>
            <a:ext cx="5412742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6BFD452-E1E4-4564-930D-50D6DF28F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49942-D5BA-40B9-824F-24560EBD43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9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437B-4BC7-4C58-BB18-547D3594B6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2441" y="1801496"/>
            <a:ext cx="3452164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2D4D8-0A1B-4222-A2FA-692FB52B9CE7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68605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25FF394-0A9A-4E65-B878-8F26F01429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305148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3793F22-E6BB-493E-BEF1-0E98EE5920E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54097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41B6293-8616-4B7A-A1A7-F68B99114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1C5E9-D86D-4939-A530-3A15F7A994F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05149" y="1801496"/>
            <a:ext cx="3456000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E057D-372F-4656-814F-2EB40825218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4097" y="1801496"/>
            <a:ext cx="3455276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52BDD-6550-487B-919D-273E23419AD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21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ISCF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D679-0582-42F7-B918-B0C73696D0D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1836" y="1239520"/>
            <a:ext cx="11217084" cy="525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10273-08C8-4EA8-8F77-615E39E16AA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16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v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14176-1D9E-47A1-B354-5E5F9479C4B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45466" y="3018156"/>
            <a:ext cx="3592853" cy="2635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D227A-B728-4033-91E5-4B8A425592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637280" y="0"/>
            <a:ext cx="8558530" cy="6858025"/>
          </a:xfrm>
          <a:custGeom>
            <a:avLst/>
            <a:gdLst>
              <a:gd name="connsiteX0" fmla="*/ 0 w 6868160"/>
              <a:gd name="connsiteY0" fmla="*/ 0 h 6864350"/>
              <a:gd name="connsiteX1" fmla="*/ 6868160 w 6868160"/>
              <a:gd name="connsiteY1" fmla="*/ 0 h 6864350"/>
              <a:gd name="connsiteX2" fmla="*/ 6868160 w 6868160"/>
              <a:gd name="connsiteY2" fmla="*/ 6864350 h 6864350"/>
              <a:gd name="connsiteX3" fmla="*/ 0 w 6868160"/>
              <a:gd name="connsiteY3" fmla="*/ 6864350 h 6864350"/>
              <a:gd name="connsiteX4" fmla="*/ 0 w 6868160"/>
              <a:gd name="connsiteY4" fmla="*/ 0 h 686435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554720 w 8554720"/>
              <a:gd name="connsiteY2" fmla="*/ 6864350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7609840 w 8554720"/>
              <a:gd name="connsiteY2" fmla="*/ 6029225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361680 w 8554720"/>
              <a:gd name="connsiteY2" fmla="*/ 6569001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8530"/>
              <a:gd name="connsiteY0" fmla="*/ 0 h 6874535"/>
              <a:gd name="connsiteX1" fmla="*/ 8554720 w 8558530"/>
              <a:gd name="connsiteY1" fmla="*/ 0 h 6874535"/>
              <a:gd name="connsiteX2" fmla="*/ 8558530 w 8558530"/>
              <a:gd name="connsiteY2" fmla="*/ 6874535 h 6874535"/>
              <a:gd name="connsiteX3" fmla="*/ 0 w 8558530"/>
              <a:gd name="connsiteY3" fmla="*/ 6874510 h 6874535"/>
              <a:gd name="connsiteX4" fmla="*/ 1686560 w 8558530"/>
              <a:gd name="connsiteY4" fmla="*/ 0 h 68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8530" h="6874535">
                <a:moveTo>
                  <a:pt x="1686560" y="0"/>
                </a:moveTo>
                <a:lnTo>
                  <a:pt x="8554720" y="0"/>
                </a:lnTo>
                <a:lnTo>
                  <a:pt x="8558530" y="6874535"/>
                </a:lnTo>
                <a:lnTo>
                  <a:pt x="0" y="6874510"/>
                </a:lnTo>
                <a:cubicBezTo>
                  <a:pt x="1337733" y="5321300"/>
                  <a:pt x="2167467" y="2660650"/>
                  <a:pt x="168656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0EA4457-D003-4978-BBE9-1D4CE13648B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074532" y="365126"/>
            <a:ext cx="576000" cy="576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465" y="2500631"/>
            <a:ext cx="3592854" cy="517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9CE5ABC-A8EF-4F14-B8F0-374FBEFDE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45465" y="1681163"/>
            <a:ext cx="1083335" cy="706437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EDBAF38E-4425-41FF-907A-6D52583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4820920" cy="540000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5BA27-A4CD-4EF3-B6A3-06E7AC39A8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76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D67FB-479B-4764-8498-129CEC6BCE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645493" y="2414076"/>
            <a:ext cx="4963877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64013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5494" y="1860551"/>
            <a:ext cx="4963879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>
            <a:off x="5229010" y="1561997"/>
            <a:ext cx="848773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1A45A-FD18-456B-9D2D-D62BD718E9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52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48C7-70CE-42AE-AB47-8E91549A254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963" y="2414078"/>
            <a:ext cx="4706799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97924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6964" y="1860551"/>
            <a:ext cx="4706798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 flipH="1">
            <a:off x="5975192" y="1561997"/>
            <a:ext cx="835200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2330E-ED7A-43C4-9E8C-FA31B4F4048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53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306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9A088-28E2-1847-B93F-375F765005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8158" y="5983889"/>
            <a:ext cx="3842021" cy="528719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09A6E-D9D6-3048-AC18-FA2240E80C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18847" y="5983889"/>
            <a:ext cx="2663553" cy="5060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79584C-BC03-E347-A371-B26D4DB812FC}"/>
              </a:ext>
            </a:extLst>
          </p:cNvPr>
          <p:cNvSpPr/>
          <p:nvPr userDrawn="1"/>
        </p:nvSpPr>
        <p:spPr>
          <a:xfrm>
            <a:off x="0" y="5983889"/>
            <a:ext cx="12192000" cy="874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C2CB5E-4220-A747-BDD1-68CCA8BECE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75311" y="6043524"/>
            <a:ext cx="3762194" cy="714743"/>
          </a:xfrm>
          <a:prstGeom prst="rect">
            <a:avLst/>
          </a:prstGeom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974D2CA8-9C48-0E44-963E-11BC34C9BB0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8157" y="6199467"/>
            <a:ext cx="3466684" cy="5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6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9A088-28E2-1847-B93F-375F765005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8158" y="5983889"/>
            <a:ext cx="3842021" cy="528719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09A6E-D9D6-3048-AC18-FA2240E80C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18847" y="5983889"/>
            <a:ext cx="2663553" cy="5060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79584C-BC03-E347-A371-B26D4DB812FC}"/>
              </a:ext>
            </a:extLst>
          </p:cNvPr>
          <p:cNvSpPr/>
          <p:nvPr userDrawn="1"/>
        </p:nvSpPr>
        <p:spPr>
          <a:xfrm>
            <a:off x="0" y="5983889"/>
            <a:ext cx="12192000" cy="874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, application&#10;&#10;Description automatically generated with medium confidence">
            <a:extLst>
              <a:ext uri="{FF2B5EF4-FFF2-40B4-BE49-F238E27FC236}">
                <a16:creationId xmlns:a16="http://schemas.microsoft.com/office/drawing/2014/main" id="{201D51EA-1AE8-47B3-9C50-40FE16FDF0F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06965" y="6021353"/>
            <a:ext cx="2005063" cy="836645"/>
          </a:xfrm>
          <a:prstGeom prst="rect">
            <a:avLst/>
          </a:prstGeom>
        </p:spPr>
      </p:pic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EDBA5182-0096-4E57-B59B-D8E2A9E7F7E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17611" y="6171080"/>
            <a:ext cx="2202345" cy="46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2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v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14176-1D9E-47A1-B354-5E5F9479C4B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45466" y="3018156"/>
            <a:ext cx="3592853" cy="2635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D227A-B728-4033-91E5-4B8A425592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637280" y="0"/>
            <a:ext cx="8558530" cy="6858025"/>
          </a:xfrm>
          <a:custGeom>
            <a:avLst/>
            <a:gdLst>
              <a:gd name="connsiteX0" fmla="*/ 0 w 6868160"/>
              <a:gd name="connsiteY0" fmla="*/ 0 h 6864350"/>
              <a:gd name="connsiteX1" fmla="*/ 6868160 w 6868160"/>
              <a:gd name="connsiteY1" fmla="*/ 0 h 6864350"/>
              <a:gd name="connsiteX2" fmla="*/ 6868160 w 6868160"/>
              <a:gd name="connsiteY2" fmla="*/ 6864350 h 6864350"/>
              <a:gd name="connsiteX3" fmla="*/ 0 w 6868160"/>
              <a:gd name="connsiteY3" fmla="*/ 6864350 h 6864350"/>
              <a:gd name="connsiteX4" fmla="*/ 0 w 6868160"/>
              <a:gd name="connsiteY4" fmla="*/ 0 h 686435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554720 w 8554720"/>
              <a:gd name="connsiteY2" fmla="*/ 6864350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7609840 w 8554720"/>
              <a:gd name="connsiteY2" fmla="*/ 6029225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361680 w 8554720"/>
              <a:gd name="connsiteY2" fmla="*/ 6569001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8530"/>
              <a:gd name="connsiteY0" fmla="*/ 0 h 6874535"/>
              <a:gd name="connsiteX1" fmla="*/ 8554720 w 8558530"/>
              <a:gd name="connsiteY1" fmla="*/ 0 h 6874535"/>
              <a:gd name="connsiteX2" fmla="*/ 8558530 w 8558530"/>
              <a:gd name="connsiteY2" fmla="*/ 6874535 h 6874535"/>
              <a:gd name="connsiteX3" fmla="*/ 0 w 8558530"/>
              <a:gd name="connsiteY3" fmla="*/ 6874510 h 6874535"/>
              <a:gd name="connsiteX4" fmla="*/ 1686560 w 8558530"/>
              <a:gd name="connsiteY4" fmla="*/ 0 h 68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8530" h="6874535">
                <a:moveTo>
                  <a:pt x="1686560" y="0"/>
                </a:moveTo>
                <a:lnTo>
                  <a:pt x="8554720" y="0"/>
                </a:lnTo>
                <a:lnTo>
                  <a:pt x="8558530" y="6874535"/>
                </a:lnTo>
                <a:lnTo>
                  <a:pt x="0" y="6874510"/>
                </a:lnTo>
                <a:cubicBezTo>
                  <a:pt x="1337733" y="5321300"/>
                  <a:pt x="2167467" y="2660650"/>
                  <a:pt x="168656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0EA4457-D003-4978-BBE9-1D4CE13648B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074532" y="365126"/>
            <a:ext cx="576000" cy="576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465" y="2500631"/>
            <a:ext cx="3592854" cy="517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9CE5ABC-A8EF-4F14-B8F0-374FBEFDE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45465" y="1681163"/>
            <a:ext cx="1083335" cy="706437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EDBAF38E-4425-41FF-907A-6D52583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4820920" cy="540000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5BA27-A4CD-4EF3-B6A3-06E7AC39A8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865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D67FB-479B-4764-8498-129CEC6BCE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645493" y="2414076"/>
            <a:ext cx="4963877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64013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5494" y="1860551"/>
            <a:ext cx="4963879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>
            <a:off x="5229010" y="1561997"/>
            <a:ext cx="848773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1A45A-FD18-456B-9D2D-D62BD718E9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9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48C7-70CE-42AE-AB47-8E91549A254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963" y="2414078"/>
            <a:ext cx="4706799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97924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6964" y="1860551"/>
            <a:ext cx="4706798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 flipH="1">
            <a:off x="5975192" y="1561997"/>
            <a:ext cx="835200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2330E-ED7A-43C4-9E8C-FA31B4F4048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32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34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9A088-28E2-1847-B93F-375F765005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8158" y="5983889"/>
            <a:ext cx="3842021" cy="528719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09A6E-D9D6-3048-AC18-FA2240E80C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18847" y="5983889"/>
            <a:ext cx="2663553" cy="5060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79584C-BC03-E347-A371-B26D4DB812FC}"/>
              </a:ext>
            </a:extLst>
          </p:cNvPr>
          <p:cNvSpPr/>
          <p:nvPr userDrawn="1"/>
        </p:nvSpPr>
        <p:spPr>
          <a:xfrm>
            <a:off x="0" y="5983889"/>
            <a:ext cx="12192000" cy="874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C2CB5E-4220-A747-BDD1-68CCA8BECE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75311" y="6043524"/>
            <a:ext cx="3762194" cy="714743"/>
          </a:xfrm>
          <a:prstGeom prst="rect">
            <a:avLst/>
          </a:prstGeom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974D2CA8-9C48-0E44-963E-11BC34C9BB0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8157" y="6199467"/>
            <a:ext cx="3466684" cy="5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65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22A521-7572-AA44-95A7-2E9A3E61AF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69743" y="5822575"/>
            <a:ext cx="4437138" cy="666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A729E-E15A-454E-B56F-10278930AE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0"/>
            <a:ext cx="6167628" cy="685799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F95277A-5631-43FD-8D31-D98728372BEA}"/>
              </a:ext>
            </a:extLst>
          </p:cNvPr>
          <p:cNvSpPr txBox="1">
            <a:spLocks/>
          </p:cNvSpPr>
          <p:nvPr userDrawn="1"/>
        </p:nvSpPr>
        <p:spPr>
          <a:xfrm>
            <a:off x="333335" y="6359793"/>
            <a:ext cx="1911981" cy="2639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1800" b="1" i="0" kern="1200" baseline="0" dirty="0">
                <a:solidFill>
                  <a:srgbClr val="567483"/>
                </a:solidFill>
                <a:latin typeface="+mn-lt"/>
                <a:ea typeface="Roboto Light" panose="02000000000000000000" pitchFamily="2" charset="0"/>
                <a:cs typeface="Aharoni" panose="020B0604020202020204" pitchFamily="2" charset="-79"/>
              </a:defRPr>
            </a:lvl1pPr>
          </a:lstStyle>
          <a:p>
            <a:r>
              <a:rPr lang="en-GB" sz="900" b="0" i="1">
                <a:solidFill>
                  <a:schemeClr val="bg1"/>
                </a:solidFill>
              </a:rPr>
              <a:t>Nissan Leaf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775ECD-71E1-420C-A367-227228E754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10086" y="447675"/>
            <a:ext cx="5053288" cy="273136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A84AE98-7917-4111-A1F1-5AF046C3BB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63" y="3494434"/>
            <a:ext cx="5053011" cy="135379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2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Month 2019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24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F4C76-AF7E-4E5D-B1D1-1176A011A79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67136" y="1239521"/>
            <a:ext cx="11211784" cy="52533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6F259-C0BE-4EFF-9017-43D6A556E32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05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80AF770-BB95-4234-9B72-C82FF2F3C24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8604" y="1239520"/>
            <a:ext cx="11210316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43A153C-2D0D-432B-AA87-4CEC5BCD8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1298A-B090-4EEE-ABD9-2D9222767B1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72438" y="1801495"/>
            <a:ext cx="11206482" cy="46092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9F0A9F-E325-4793-9F39-2D55CA4F215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8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101D14-1A4A-4FD6-85C4-DBBE8C14DDD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96631" y="1801496"/>
            <a:ext cx="5402976" cy="46913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2804C9-ECA8-4A2B-8376-B7DDE3E3E47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2440" y="1801495"/>
            <a:ext cx="5412739" cy="4715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A286F2D-83B5-4B11-89E9-29B8A01265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2440" y="1239520"/>
            <a:ext cx="5412739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5DCE721-73EE-4583-B0E4-F0E99298C2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96632" y="1239520"/>
            <a:ext cx="5412742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6BFD452-E1E4-4564-930D-50D6DF28FC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49942-D5BA-40B9-824F-24560EBD43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60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2437B-4BC7-4C58-BB18-547D3594B6A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72441" y="1801496"/>
            <a:ext cx="3452164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D2D4D8-0A1B-4222-A2FA-692FB52B9CE7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468605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25FF394-0A9A-4E65-B878-8F26F01429E6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4305148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3793F22-E6BB-493E-BEF1-0E98EE5920E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8154097" y="1239520"/>
            <a:ext cx="3456000" cy="561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41B6293-8616-4B7A-A1A7-F68B991146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1C5E9-D86D-4939-A530-3A15F7A994F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05149" y="1801496"/>
            <a:ext cx="3456000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FE057D-372F-4656-814F-2EB40825218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154097" y="1801496"/>
            <a:ext cx="3455276" cy="46191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52BDD-6550-487B-919D-273E23419AD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80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page - ISCF ic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FD679-0582-42F7-B918-B0C73696D0D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61836" y="1239520"/>
            <a:ext cx="11217084" cy="52533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D2B56A-E976-4FB0-9C0F-1006E748E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048" r="25216" b="1"/>
          <a:stretch/>
        </p:blipFill>
        <p:spPr>
          <a:xfrm>
            <a:off x="9492219" y="0"/>
            <a:ext cx="2699781" cy="2417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59FA2B-6139-4417-8BE3-F9E34BB1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4"/>
            <a:ext cx="1051560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A10273-08C8-4EA8-8F77-615E39E16AA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07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rv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14176-1D9E-47A1-B354-5E5F9479C4BD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45466" y="3018156"/>
            <a:ext cx="3592853" cy="2635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D227A-B728-4033-91E5-4B8A425592F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637280" y="0"/>
            <a:ext cx="8558530" cy="6858025"/>
          </a:xfrm>
          <a:custGeom>
            <a:avLst/>
            <a:gdLst>
              <a:gd name="connsiteX0" fmla="*/ 0 w 6868160"/>
              <a:gd name="connsiteY0" fmla="*/ 0 h 6864350"/>
              <a:gd name="connsiteX1" fmla="*/ 6868160 w 6868160"/>
              <a:gd name="connsiteY1" fmla="*/ 0 h 6864350"/>
              <a:gd name="connsiteX2" fmla="*/ 6868160 w 6868160"/>
              <a:gd name="connsiteY2" fmla="*/ 6864350 h 6864350"/>
              <a:gd name="connsiteX3" fmla="*/ 0 w 6868160"/>
              <a:gd name="connsiteY3" fmla="*/ 6864350 h 6864350"/>
              <a:gd name="connsiteX4" fmla="*/ 0 w 6868160"/>
              <a:gd name="connsiteY4" fmla="*/ 0 h 686435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96720 w 8564880"/>
              <a:gd name="connsiteY0" fmla="*/ 0 h 6884670"/>
              <a:gd name="connsiteX1" fmla="*/ 8564880 w 8564880"/>
              <a:gd name="connsiteY1" fmla="*/ 0 h 6884670"/>
              <a:gd name="connsiteX2" fmla="*/ 8564880 w 8564880"/>
              <a:gd name="connsiteY2" fmla="*/ 6864350 h 6884670"/>
              <a:gd name="connsiteX3" fmla="*/ 0 w 8564880"/>
              <a:gd name="connsiteY3" fmla="*/ 6884670 h 6884670"/>
              <a:gd name="connsiteX4" fmla="*/ 1696720 w 8564880"/>
              <a:gd name="connsiteY4" fmla="*/ 0 h 688467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554720 w 8554720"/>
              <a:gd name="connsiteY2" fmla="*/ 6864350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7609840 w 8554720"/>
              <a:gd name="connsiteY2" fmla="*/ 6029225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4720"/>
              <a:gd name="connsiteY0" fmla="*/ 0 h 6874510"/>
              <a:gd name="connsiteX1" fmla="*/ 8554720 w 8554720"/>
              <a:gd name="connsiteY1" fmla="*/ 0 h 6874510"/>
              <a:gd name="connsiteX2" fmla="*/ 8361680 w 8554720"/>
              <a:gd name="connsiteY2" fmla="*/ 6569001 h 6874510"/>
              <a:gd name="connsiteX3" fmla="*/ 0 w 8554720"/>
              <a:gd name="connsiteY3" fmla="*/ 6874510 h 6874510"/>
              <a:gd name="connsiteX4" fmla="*/ 1686560 w 8554720"/>
              <a:gd name="connsiteY4" fmla="*/ 0 h 6874510"/>
              <a:gd name="connsiteX0" fmla="*/ 1686560 w 8558530"/>
              <a:gd name="connsiteY0" fmla="*/ 0 h 6874535"/>
              <a:gd name="connsiteX1" fmla="*/ 8554720 w 8558530"/>
              <a:gd name="connsiteY1" fmla="*/ 0 h 6874535"/>
              <a:gd name="connsiteX2" fmla="*/ 8558530 w 8558530"/>
              <a:gd name="connsiteY2" fmla="*/ 6874535 h 6874535"/>
              <a:gd name="connsiteX3" fmla="*/ 0 w 8558530"/>
              <a:gd name="connsiteY3" fmla="*/ 6874510 h 6874535"/>
              <a:gd name="connsiteX4" fmla="*/ 1686560 w 8558530"/>
              <a:gd name="connsiteY4" fmla="*/ 0 h 6874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8530" h="6874535">
                <a:moveTo>
                  <a:pt x="1686560" y="0"/>
                </a:moveTo>
                <a:lnTo>
                  <a:pt x="8554720" y="0"/>
                </a:lnTo>
                <a:lnTo>
                  <a:pt x="8558530" y="6874535"/>
                </a:lnTo>
                <a:lnTo>
                  <a:pt x="0" y="6874510"/>
                </a:lnTo>
                <a:cubicBezTo>
                  <a:pt x="1337733" y="5321300"/>
                  <a:pt x="2167467" y="2660650"/>
                  <a:pt x="168656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GB"/>
              <a:t>Insert picture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0EA4457-D003-4978-BBE9-1D4CE13648B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1074532" y="365126"/>
            <a:ext cx="576000" cy="576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5465" y="2500631"/>
            <a:ext cx="3592854" cy="5175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1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9CE5ABC-A8EF-4F14-B8F0-374FBEFDE1C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45465" y="1681163"/>
            <a:ext cx="1083335" cy="706437"/>
          </a:xfrm>
          <a:prstGeom prst="rect">
            <a:avLst/>
          </a:prstGeom>
        </p:spPr>
        <p:txBody>
          <a:bodyPr anchor="t" anchorCtr="0"/>
          <a:lstStyle>
            <a:lvl1pPr marL="0" indent="0" algn="ctr">
              <a:buFontTx/>
              <a:buNone/>
              <a:defRPr sz="900"/>
            </a:lvl1pPr>
          </a:lstStyle>
          <a:p>
            <a:r>
              <a:rPr lang="en-GB"/>
              <a:t>Click to add icon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EDBAF38E-4425-41FF-907A-6D52583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4820920" cy="540000"/>
          </a:xfrm>
        </p:spPr>
        <p:txBody>
          <a:bodyPr/>
          <a:lstStyle/>
          <a:p>
            <a:r>
              <a:rPr lang="en-US"/>
              <a:t>Click to edit Master title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55BA27-A4CD-4EF3-B6A3-06E7AC39A8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805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D67FB-479B-4764-8498-129CEC6BCE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645493" y="2414076"/>
            <a:ext cx="4963877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64013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45494" y="1860551"/>
            <a:ext cx="4963879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>
            <a:off x="5229010" y="1561997"/>
            <a:ext cx="848773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E1A45A-FD18-456B-9D2D-D62BD718E9D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866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948C7-70CE-42AE-AB47-8E91549A254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963" y="2414078"/>
            <a:ext cx="4706799" cy="3534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490F06E-313B-4151-9727-6470F0DBD81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97924" y="1086710"/>
            <a:ext cx="4989600" cy="49896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Insert picture (crop as square before inserting)</a:t>
            </a:r>
          </a:p>
          <a:p>
            <a:endParaRPr lang="en-GB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8F2C3FCC-DDFB-4EAD-ACD5-4C77AE265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6964" y="1860551"/>
            <a:ext cx="4706798" cy="5175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Tx/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7A8EB843-53DE-43E8-8C40-F946DE6D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6263640" cy="540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</a:t>
            </a:r>
            <a:endParaRPr lang="en-GB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CB72FA22-A7E9-4247-978C-8A2EA8E3D8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532" y="365126"/>
            <a:ext cx="576000" cy="576000"/>
          </a:xfrm>
          <a:prstGeom prst="rect">
            <a:avLst/>
          </a:prstGeom>
        </p:spPr>
      </p:pic>
      <p:sp>
        <p:nvSpPr>
          <p:cNvPr id="2" name="Graphic 8">
            <a:extLst>
              <a:ext uri="{FF2B5EF4-FFF2-40B4-BE49-F238E27FC236}">
                <a16:creationId xmlns:a16="http://schemas.microsoft.com/office/drawing/2014/main" id="{65F43AC2-96BA-4875-A6C0-28461A0482EE}"/>
              </a:ext>
            </a:extLst>
          </p:cNvPr>
          <p:cNvSpPr/>
          <p:nvPr/>
        </p:nvSpPr>
        <p:spPr>
          <a:xfrm flipH="1">
            <a:off x="5975192" y="1561997"/>
            <a:ext cx="835200" cy="4015835"/>
          </a:xfrm>
          <a:custGeom>
            <a:avLst/>
            <a:gdLst>
              <a:gd name="connsiteX0" fmla="*/ 0 w 848772"/>
              <a:gd name="connsiteY0" fmla="*/ 0 h 4015835"/>
              <a:gd name="connsiteX1" fmla="*/ 854955 w 848772"/>
              <a:gd name="connsiteY1" fmla="*/ 2008792 h 4015835"/>
              <a:gd name="connsiteX2" fmla="*/ 0 w 848772"/>
              <a:gd name="connsiteY2" fmla="*/ 4017583 h 401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8772" h="4015835">
                <a:moveTo>
                  <a:pt x="0" y="0"/>
                </a:moveTo>
                <a:cubicBezTo>
                  <a:pt x="536120" y="557796"/>
                  <a:pt x="854955" y="1253688"/>
                  <a:pt x="854955" y="2008792"/>
                </a:cubicBezTo>
                <a:cubicBezTo>
                  <a:pt x="854955" y="2763908"/>
                  <a:pt x="536120" y="3459788"/>
                  <a:pt x="0" y="4017583"/>
                </a:cubicBezTo>
              </a:path>
            </a:pathLst>
          </a:custGeom>
          <a:noFill/>
          <a:ln w="12142" cap="rnd">
            <a:solidFill>
              <a:srgbClr val="2A367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F2330E-ED7A-43C4-9E8C-FA31B4F4048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33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Breaker text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94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reak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70418F4-1B4A-4D67-BB47-1E7A945A10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811845"/>
            <a:ext cx="2647664" cy="293903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622F8D-506E-4F9A-8554-EC2426AF8D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89275" y="1691005"/>
            <a:ext cx="8493125" cy="289115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90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69A088-28E2-1847-B93F-375F765005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8158" y="5983889"/>
            <a:ext cx="3842021" cy="528719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6AD09A6E-D9D6-3048-AC18-FA2240E80C4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918847" y="5983889"/>
            <a:ext cx="2663553" cy="5060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079584C-BC03-E347-A371-B26D4DB812FC}"/>
              </a:ext>
            </a:extLst>
          </p:cNvPr>
          <p:cNvSpPr/>
          <p:nvPr userDrawn="1"/>
        </p:nvSpPr>
        <p:spPr>
          <a:xfrm>
            <a:off x="0" y="5983889"/>
            <a:ext cx="12192000" cy="874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C2CB5E-4220-A747-BDD1-68CCA8BECE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75311" y="6043524"/>
            <a:ext cx="3762194" cy="714743"/>
          </a:xfrm>
          <a:prstGeom prst="rect">
            <a:avLst/>
          </a:prstGeom>
        </p:spPr>
      </p:pic>
      <p:pic>
        <p:nvPicPr>
          <p:cNvPr id="14" name="Picture 13" descr="A close up of a sign&#10;&#10;Description automatically generated">
            <a:extLst>
              <a:ext uri="{FF2B5EF4-FFF2-40B4-BE49-F238E27FC236}">
                <a16:creationId xmlns:a16="http://schemas.microsoft.com/office/drawing/2014/main" id="{974D2CA8-9C48-0E44-963E-11BC34C9BB0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38157" y="6199467"/>
            <a:ext cx="3466684" cy="5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60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0C14B1-923A-7344-92EF-2A05BE21F1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27902-098E-7F44-9E12-092AE7E6B9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3757" y="6176963"/>
            <a:ext cx="1310640" cy="365125"/>
          </a:xfrm>
          <a:prstGeom prst="rect">
            <a:avLst/>
          </a:prstGeom>
        </p:spPr>
        <p:txBody>
          <a:bodyPr/>
          <a:lstStyle/>
          <a:p>
            <a:r>
              <a:rPr lang="en-US" b="0">
                <a:latin typeface="Calibri Regular" panose="020F0502020204030204" pitchFamily="34" charset="0"/>
              </a:rPr>
              <a:t>Page </a:t>
            </a:r>
            <a:fld id="{4C9EA7EF-1E99-714F-B517-07B09FA20797}" type="slidenum">
              <a:rPr lang="en-US" b="0" smtClean="0">
                <a:latin typeface="Calibri Regular" panose="020F0502020204030204" pitchFamily="34" charset="0"/>
              </a:rPr>
              <a:pPr/>
              <a:t>‹#›</a:t>
            </a:fld>
            <a:endParaRPr lang="en-US" b="0">
              <a:latin typeface="Calibri Regular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D2938A-4803-1642-9292-F92BF3FDF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39" y="1451051"/>
            <a:ext cx="11249507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3A46C1-144E-B848-AFA3-339B643A31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SLIDE</a:t>
            </a:r>
          </a:p>
        </p:txBody>
      </p:sp>
    </p:spTree>
    <p:extLst>
      <p:ext uri="{BB962C8B-B14F-4D97-AF65-F5344CB8AC3E}">
        <p14:creationId xmlns:p14="http://schemas.microsoft.com/office/powerpoint/2010/main" val="364447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76F21-D801-48CE-9ADA-2C21B832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10515600" cy="54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DBEF9-470D-46D7-A3F7-68A9B1D78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440" y="1239521"/>
            <a:ext cx="1116584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6BAEE-F12C-4D6F-BD1A-FE997AA69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7200" y="6163628"/>
            <a:ext cx="1061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1"/>
                </a:solidFill>
              </a:defRPr>
            </a:lvl1pPr>
          </a:lstStyle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1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09" r:id="rId3"/>
    <p:sldLayoutId id="2147483710" r:id="rId4"/>
    <p:sldLayoutId id="2147483731" r:id="rId5"/>
    <p:sldLayoutId id="2147483732" r:id="rId6"/>
    <p:sldLayoutId id="2147483706" r:id="rId7"/>
    <p:sldLayoutId id="2147483694" r:id="rId8"/>
    <p:sldLayoutId id="2147483699" r:id="rId9"/>
    <p:sldLayoutId id="2147483700" r:id="rId10"/>
    <p:sldLayoutId id="2147483707" r:id="rId11"/>
    <p:sldLayoutId id="2147483698" r:id="rId12"/>
    <p:sldLayoutId id="2147483733" r:id="rId13"/>
    <p:sldLayoutId id="2147483734" r:id="rId14"/>
    <p:sldLayoutId id="2147483735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43" r:id="rId23"/>
    <p:sldLayoutId id="2147483718" r:id="rId24"/>
    <p:sldLayoutId id="2147483703" r:id="rId25"/>
    <p:sldLayoutId id="2147483704" r:id="rId26"/>
    <p:sldLayoutId id="2147483705" r:id="rId27"/>
    <p:sldLayoutId id="2147483729" r:id="rId28"/>
    <p:sldLayoutId id="2147483701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76F21-D801-48CE-9ADA-2C21B832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10515600" cy="54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DBEF9-470D-46D7-A3F7-68A9B1D78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440" y="1239521"/>
            <a:ext cx="1116584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6BAEE-F12C-4D6F-BD1A-FE997AA69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17200" y="6163628"/>
            <a:ext cx="10617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accent1"/>
                </a:solidFill>
              </a:defRPr>
            </a:lvl1pPr>
          </a:lstStyle>
          <a:p>
            <a:fld id="{41C5A579-CF16-4B3F-828F-FC681546EC1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21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4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FC69586-060C-1154-8C8E-6C41F7FE9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593" y="464010"/>
            <a:ext cx="10515600" cy="540000"/>
          </a:xfrm>
        </p:spPr>
        <p:txBody>
          <a:bodyPr>
            <a:normAutofit fontScale="90000"/>
          </a:bodyPr>
          <a:lstStyle/>
          <a:p>
            <a:r>
              <a:rPr lang="en-GB" dirty="0"/>
              <a:t>WP1 – MSM                       </a:t>
            </a:r>
            <a:br>
              <a:rPr lang="en-GB" dirty="0"/>
            </a:br>
            <a:br>
              <a:rPr lang="en-GB" dirty="0"/>
            </a:br>
            <a:endParaRPr lang="en-GB" dirty="0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FDB9DF-7AC1-5E81-15E5-81CEB000373A}"/>
              </a:ext>
            </a:extLst>
          </p:cNvPr>
          <p:cNvSpPr txBox="1">
            <a:spLocks/>
          </p:cNvSpPr>
          <p:nvPr/>
        </p:nvSpPr>
        <p:spPr>
          <a:xfrm>
            <a:off x="838200" y="2694426"/>
            <a:ext cx="10515600" cy="54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000" dirty="0"/>
              <a:t>Voltage-Driven Evolution of Lithium Nanoparticle Morphology</a:t>
            </a:r>
            <a:br>
              <a:rPr lang="en-GB" sz="2000" dirty="0"/>
            </a:br>
            <a:endParaRPr lang="en-GB" sz="2000" dirty="0"/>
          </a:p>
          <a:p>
            <a:pPr algn="ctr"/>
            <a:r>
              <a:rPr lang="en-GB" sz="2000" dirty="0"/>
              <a:t>(paper in Progress)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BC22F-113A-C3FB-349E-9D86A6F44E70}"/>
              </a:ext>
            </a:extLst>
          </p:cNvPr>
          <p:cNvSpPr txBox="1"/>
          <p:nvPr/>
        </p:nvSpPr>
        <p:spPr>
          <a:xfrm>
            <a:off x="1970751" y="4052598"/>
            <a:ext cx="8250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</a:rPr>
              <a:t>Brad Ayers , Arihant Bhandari, Gilberto </a:t>
            </a:r>
            <a:r>
              <a:rPr lang="en-GB" sz="1600" dirty="0" err="1">
                <a:solidFill>
                  <a:schemeClr val="tx2"/>
                </a:solidFill>
              </a:rPr>
              <a:t>Teobaldi</a:t>
            </a:r>
            <a:r>
              <a:rPr lang="en-GB" sz="1600" dirty="0">
                <a:solidFill>
                  <a:schemeClr val="tx2"/>
                </a:solidFill>
              </a:rPr>
              <a:t>, Chris-</a:t>
            </a:r>
            <a:r>
              <a:rPr lang="en-GB" sz="1600" dirty="0" err="1">
                <a:solidFill>
                  <a:schemeClr val="tx2"/>
                </a:solidFill>
              </a:rPr>
              <a:t>Kriton</a:t>
            </a:r>
            <a:r>
              <a:rPr lang="en-GB" sz="1600" dirty="0">
                <a:solidFill>
                  <a:schemeClr val="tx2"/>
                </a:solidFill>
              </a:rPr>
              <a:t> </a:t>
            </a:r>
            <a:r>
              <a:rPr lang="en-GB" sz="1600" dirty="0" err="1">
                <a:solidFill>
                  <a:schemeClr val="tx2"/>
                </a:solidFill>
              </a:rPr>
              <a:t>Skylaris</a:t>
            </a:r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7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8EEFC6-0C0B-1E12-AD61-406634EFC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690" y="76170"/>
            <a:ext cx="10515600" cy="540000"/>
          </a:xfrm>
        </p:spPr>
        <p:txBody>
          <a:bodyPr anchor="t">
            <a:normAutofit/>
          </a:bodyPr>
          <a:lstStyle/>
          <a:p>
            <a:pPr algn="ctr"/>
            <a:r>
              <a:rPr lang="en-GB" dirty="0"/>
              <a:t>Lithium Wulff shapes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3895-0C5D-B7A1-7D43-7723B057CC7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0617200" y="6163628"/>
            <a:ext cx="1061720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1C5A579-CF16-4B3F-828F-FC681546EC15}" type="slidenum">
              <a:rPr lang="en-GB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GB"/>
          </a:p>
        </p:txBody>
      </p:sp>
      <p:pic>
        <p:nvPicPr>
          <p:cNvPr id="17" name="Picture 16" descr="A colorful geometrical object with numbers and a chart&#10;&#10;AI-generated content may be incorrect.">
            <a:extLst>
              <a:ext uri="{FF2B5EF4-FFF2-40B4-BE49-F238E27FC236}">
                <a16:creationId xmlns:a16="http://schemas.microsoft.com/office/drawing/2014/main" id="{D838F426-E9E7-8354-EE20-2568152EB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188" y="1146825"/>
            <a:ext cx="2705138" cy="2440380"/>
          </a:xfrm>
          <a:prstGeom prst="rect">
            <a:avLst/>
          </a:prstGeom>
        </p:spPr>
      </p:pic>
      <p:pic>
        <p:nvPicPr>
          <p:cNvPr id="19" name="Picture 18" descr="A colorful hexagon shaped ball with numbers and a chart&#10;&#10;AI-generated content may be incorrect.">
            <a:extLst>
              <a:ext uri="{FF2B5EF4-FFF2-40B4-BE49-F238E27FC236}">
                <a16:creationId xmlns:a16="http://schemas.microsoft.com/office/drawing/2014/main" id="{C5284C32-88D6-FAA9-67E6-2ACC33239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506" y="1146826"/>
            <a:ext cx="2705138" cy="2440380"/>
          </a:xfrm>
          <a:prstGeom prst="rect">
            <a:avLst/>
          </a:prstGeom>
        </p:spPr>
      </p:pic>
      <p:pic>
        <p:nvPicPr>
          <p:cNvPr id="23" name="Picture 22" descr="A green hexagon with a rainbow spectrum&#10;&#10;AI-generated content may be incorrect.">
            <a:extLst>
              <a:ext uri="{FF2B5EF4-FFF2-40B4-BE49-F238E27FC236}">
                <a16:creationId xmlns:a16="http://schemas.microsoft.com/office/drawing/2014/main" id="{D631B7AF-18C8-0B3A-B18A-A148EAC0A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588" y="1146825"/>
            <a:ext cx="2865983" cy="2585482"/>
          </a:xfrm>
          <a:prstGeom prst="rect">
            <a:avLst/>
          </a:prstGeom>
        </p:spPr>
      </p:pic>
      <p:pic>
        <p:nvPicPr>
          <p:cNvPr id="26" name="Picture 25" descr="A colorful geometrical object with numbers and a chart&#10;&#10;AI-generated content may be incorrect.">
            <a:extLst>
              <a:ext uri="{FF2B5EF4-FFF2-40B4-BE49-F238E27FC236}">
                <a16:creationId xmlns:a16="http://schemas.microsoft.com/office/drawing/2014/main" id="{1B75ED26-CCE3-EFAB-1479-9FE428FAB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560" y="4294320"/>
            <a:ext cx="2757381" cy="2487510"/>
          </a:xfrm>
          <a:prstGeom prst="rect">
            <a:avLst/>
          </a:prstGeom>
        </p:spPr>
      </p:pic>
      <p:pic>
        <p:nvPicPr>
          <p:cNvPr id="28" name="Picture 27" descr="A colorful geometrical object with numbers and a chart&#10;&#10;AI-generated content may be incorrect.">
            <a:extLst>
              <a:ext uri="{FF2B5EF4-FFF2-40B4-BE49-F238E27FC236}">
                <a16:creationId xmlns:a16="http://schemas.microsoft.com/office/drawing/2014/main" id="{EF64817F-D995-BD8C-0899-99EAC3B04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960" y="4159229"/>
            <a:ext cx="2907128" cy="2622601"/>
          </a:xfrm>
          <a:prstGeom prst="rect">
            <a:avLst/>
          </a:prstGeom>
        </p:spPr>
      </p:pic>
      <p:pic>
        <p:nvPicPr>
          <p:cNvPr id="30" name="Picture 29" descr="A colorful hexagon with numbers and a graph&#10;&#10;AI-generated content may be incorrect.">
            <a:extLst>
              <a:ext uri="{FF2B5EF4-FFF2-40B4-BE49-F238E27FC236}">
                <a16:creationId xmlns:a16="http://schemas.microsoft.com/office/drawing/2014/main" id="{067384FD-0037-1B01-D180-F4DE659FC9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7219" y="4245333"/>
            <a:ext cx="2865983" cy="2585483"/>
          </a:xfrm>
          <a:prstGeom prst="rect">
            <a:avLst/>
          </a:prstGeom>
        </p:spPr>
      </p:pic>
      <p:pic>
        <p:nvPicPr>
          <p:cNvPr id="32" name="Picture 31" descr="A blue cube with black outline&#10;&#10;AI-generated content may be incorrect.">
            <a:extLst>
              <a:ext uri="{FF2B5EF4-FFF2-40B4-BE49-F238E27FC236}">
                <a16:creationId xmlns:a16="http://schemas.microsoft.com/office/drawing/2014/main" id="{B56FCE15-54E3-624F-2E4D-750FBC9D57C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543" t="8620" r="29532" b="10754"/>
          <a:stretch>
            <a:fillRect/>
          </a:stretch>
        </p:blipFill>
        <p:spPr>
          <a:xfrm>
            <a:off x="9465366" y="4470341"/>
            <a:ext cx="1858997" cy="2000376"/>
          </a:xfrm>
          <a:prstGeom prst="rect">
            <a:avLst/>
          </a:prstGeom>
        </p:spPr>
      </p:pic>
      <p:pic>
        <p:nvPicPr>
          <p:cNvPr id="34" name="Picture 33" descr="A colorful hexagon with numbers and lines&#10;&#10;AI-generated content may be incorrect.">
            <a:extLst>
              <a:ext uri="{FF2B5EF4-FFF2-40B4-BE49-F238E27FC236}">
                <a16:creationId xmlns:a16="http://schemas.microsoft.com/office/drawing/2014/main" id="{19CCA8D0-A3A5-A5D1-D6EF-120A87EAC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4980" y="1146825"/>
            <a:ext cx="2705138" cy="2440380"/>
          </a:xfrm>
          <a:prstGeom prst="rect">
            <a:avLst/>
          </a:prstGeom>
        </p:spPr>
      </p:pic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953B4C5-B5CA-3413-D639-4711361EBCE8}"/>
              </a:ext>
            </a:extLst>
          </p:cNvPr>
          <p:cNvCxnSpPr>
            <a:cxnSpLocks/>
          </p:cNvCxnSpPr>
          <p:nvPr/>
        </p:nvCxnSpPr>
        <p:spPr>
          <a:xfrm>
            <a:off x="1229509" y="4306100"/>
            <a:ext cx="9262753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84F8A9A1-6AF8-2428-B6B7-167A7E1940C3}"/>
              </a:ext>
            </a:extLst>
          </p:cNvPr>
          <p:cNvSpPr/>
          <p:nvPr/>
        </p:nvSpPr>
        <p:spPr>
          <a:xfrm>
            <a:off x="1187533" y="4219956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2D74CCD-7AC6-BD8C-51FC-0A95FBB16663}"/>
              </a:ext>
            </a:extLst>
          </p:cNvPr>
          <p:cNvSpPr/>
          <p:nvPr/>
        </p:nvSpPr>
        <p:spPr>
          <a:xfrm>
            <a:off x="4219699" y="4219956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C8236AD-52A7-8C34-6026-9F90EB19ACBA}"/>
              </a:ext>
            </a:extLst>
          </p:cNvPr>
          <p:cNvSpPr/>
          <p:nvPr/>
        </p:nvSpPr>
        <p:spPr>
          <a:xfrm>
            <a:off x="7269678" y="4245333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9407FB3-5D5D-A0A6-2BAF-2E57761F015C}"/>
              </a:ext>
            </a:extLst>
          </p:cNvPr>
          <p:cNvSpPr/>
          <p:nvPr/>
        </p:nvSpPr>
        <p:spPr>
          <a:xfrm>
            <a:off x="10192984" y="4245333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8943491-4C95-6E62-7928-A1D00CE81295}"/>
              </a:ext>
            </a:extLst>
          </p:cNvPr>
          <p:cNvCxnSpPr>
            <a:cxnSpLocks/>
          </p:cNvCxnSpPr>
          <p:nvPr/>
        </p:nvCxnSpPr>
        <p:spPr>
          <a:xfrm>
            <a:off x="1229509" y="1214437"/>
            <a:ext cx="9262753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BA72DF0A-3D95-DD35-218F-DFCF10ECBA7A}"/>
              </a:ext>
            </a:extLst>
          </p:cNvPr>
          <p:cNvSpPr/>
          <p:nvPr/>
        </p:nvSpPr>
        <p:spPr>
          <a:xfrm>
            <a:off x="1187533" y="1128293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A470BD7-6E1D-A73F-5FC6-64E0913D6175}"/>
              </a:ext>
            </a:extLst>
          </p:cNvPr>
          <p:cNvSpPr/>
          <p:nvPr/>
        </p:nvSpPr>
        <p:spPr>
          <a:xfrm>
            <a:off x="4219699" y="1128293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274997D-9D0F-0456-0BE7-ABBA098E3BCD}"/>
              </a:ext>
            </a:extLst>
          </p:cNvPr>
          <p:cNvSpPr/>
          <p:nvPr/>
        </p:nvSpPr>
        <p:spPr>
          <a:xfrm>
            <a:off x="7277024" y="1146825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4C74D23-C113-0D0D-039C-2857F736B0C4}"/>
              </a:ext>
            </a:extLst>
          </p:cNvPr>
          <p:cNvSpPr/>
          <p:nvPr/>
        </p:nvSpPr>
        <p:spPr>
          <a:xfrm>
            <a:off x="10192984" y="1146825"/>
            <a:ext cx="201880" cy="172288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B2D5BF-DABB-C629-D956-E3820A6FC175}"/>
              </a:ext>
            </a:extLst>
          </p:cNvPr>
          <p:cNvSpPr txBox="1"/>
          <p:nvPr/>
        </p:nvSpPr>
        <p:spPr>
          <a:xfrm>
            <a:off x="1071748" y="857352"/>
            <a:ext cx="433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PZC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00F93C-7AA9-ED11-4BA7-E309691FEDB1}"/>
              </a:ext>
            </a:extLst>
          </p:cNvPr>
          <p:cNvSpPr txBox="1"/>
          <p:nvPr/>
        </p:nvSpPr>
        <p:spPr>
          <a:xfrm>
            <a:off x="4103914" y="857351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0.0V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A5002E-3981-9806-9378-C2D02A7BB2D0}"/>
              </a:ext>
            </a:extLst>
          </p:cNvPr>
          <p:cNvSpPr txBox="1"/>
          <p:nvPr/>
        </p:nvSpPr>
        <p:spPr>
          <a:xfrm>
            <a:off x="7189785" y="850809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0.5V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D5F4B3-DAA7-233E-BF90-0B00C56A68EF}"/>
              </a:ext>
            </a:extLst>
          </p:cNvPr>
          <p:cNvSpPr txBox="1"/>
          <p:nvPr/>
        </p:nvSpPr>
        <p:spPr>
          <a:xfrm>
            <a:off x="10053654" y="863936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1.0V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4BEC989-3F1E-BCC9-7108-2687C5E6BD46}"/>
              </a:ext>
            </a:extLst>
          </p:cNvPr>
          <p:cNvSpPr txBox="1"/>
          <p:nvPr/>
        </p:nvSpPr>
        <p:spPr>
          <a:xfrm>
            <a:off x="1006700" y="3922072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-0.5V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363AE7-CFBB-986D-10C4-6DB62A21CAD4}"/>
              </a:ext>
            </a:extLst>
          </p:cNvPr>
          <p:cNvSpPr txBox="1"/>
          <p:nvPr/>
        </p:nvSpPr>
        <p:spPr>
          <a:xfrm>
            <a:off x="4038866" y="3942957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-1.0V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C73152-B978-FDE7-AE9F-6407D1C25F97}"/>
              </a:ext>
            </a:extLst>
          </p:cNvPr>
          <p:cNvSpPr txBox="1"/>
          <p:nvPr/>
        </p:nvSpPr>
        <p:spPr>
          <a:xfrm>
            <a:off x="7132905" y="3962444"/>
            <a:ext cx="563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-1.5V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DFEC1AD-B3F5-D0DB-D31E-5C057D0F8A3F}"/>
              </a:ext>
            </a:extLst>
          </p:cNvPr>
          <p:cNvSpPr txBox="1"/>
          <p:nvPr/>
        </p:nvSpPr>
        <p:spPr>
          <a:xfrm>
            <a:off x="10004985" y="3955665"/>
            <a:ext cx="660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70C0"/>
                </a:solidFill>
              </a:rPr>
              <a:t>-1.75V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70102E-F41B-752B-E6B5-A61EA3007429}"/>
              </a:ext>
            </a:extLst>
          </p:cNvPr>
          <p:cNvSpPr txBox="1"/>
          <p:nvPr/>
        </p:nvSpPr>
        <p:spPr>
          <a:xfrm>
            <a:off x="5519197" y="1300581"/>
            <a:ext cx="793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2060"/>
                </a:solidFill>
              </a:rPr>
              <a:t>Vs.  Li/Li+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41594-C348-2264-65BA-5426F416420C}"/>
              </a:ext>
            </a:extLst>
          </p:cNvPr>
          <p:cNvSpPr txBox="1"/>
          <p:nvPr/>
        </p:nvSpPr>
        <p:spPr>
          <a:xfrm>
            <a:off x="5519197" y="4430641"/>
            <a:ext cx="793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002060"/>
                </a:solidFill>
              </a:rPr>
              <a:t>Vs.  Li/Li+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40078C73-DB59-5EFB-8063-3AB2AC02B99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4174" t="46889" r="395" b="46492"/>
          <a:stretch>
            <a:fillRect/>
          </a:stretch>
        </p:blipFill>
        <p:spPr>
          <a:xfrm>
            <a:off x="11327263" y="5353594"/>
            <a:ext cx="740308" cy="24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75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3C8801D-47B7-47F0-C9FE-B77AD74FF1E3}"/>
              </a:ext>
            </a:extLst>
          </p:cNvPr>
          <p:cNvSpPr txBox="1"/>
          <p:nvPr/>
        </p:nvSpPr>
        <p:spPr>
          <a:xfrm>
            <a:off x="513080" y="1275397"/>
            <a:ext cx="5513292" cy="52533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>
                <a:solidFill>
                  <a:srgbClr val="002060"/>
                </a:solidFill>
              </a:rPr>
              <a:t>Key Findings: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kern="12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b="1" kern="1200" dirty="0">
                <a:solidFill>
                  <a:srgbClr val="002060"/>
                </a:solidFill>
              </a:rPr>
              <a:t>Experimental confirmation</a:t>
            </a:r>
            <a:r>
              <a:rPr lang="en-US" sz="1600" kern="1200" dirty="0">
                <a:solidFill>
                  <a:srgbClr val="002060"/>
                </a:solidFill>
              </a:rPr>
              <a:t>: Yuan et al. directly observed rhombic dodecahedral Li crystals bounded by {110} facets when deposition outpaces SEI formation (Nature 2023)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b="1" kern="1200" dirty="0">
                <a:solidFill>
                  <a:srgbClr val="002060"/>
                </a:solidFill>
              </a:rPr>
              <a:t>Morphological transformation</a:t>
            </a:r>
            <a:r>
              <a:rPr lang="en-US" sz="1600" kern="1200" dirty="0">
                <a:solidFill>
                  <a:srgbClr val="002060"/>
                </a:solidFill>
              </a:rPr>
              <a:t>: At typical rates, Li forms diverse structures depending on electrolyte; at ultrafast rates (50-1000 mA/cm²), it consistently forms {110}-faceted single crystals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b="1" kern="1200" dirty="0">
                <a:solidFill>
                  <a:srgbClr val="002060"/>
                </a:solidFill>
              </a:rPr>
              <a:t>Strong validation of DFT predictions</a:t>
            </a:r>
            <a:r>
              <a:rPr lang="en-US" sz="1600" kern="1200" dirty="0">
                <a:solidFill>
                  <a:srgbClr val="002060"/>
                </a:solidFill>
              </a:rPr>
              <a:t>: Our calculations showing {110} dominance at negative potentials perfectly align with experimental findings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b="1" kern="1200" dirty="0">
                <a:solidFill>
                  <a:srgbClr val="002060"/>
                </a:solidFill>
              </a:rPr>
              <a:t>Structure-property relationship</a:t>
            </a:r>
            <a:r>
              <a:rPr lang="en-US" sz="1600" kern="1200" dirty="0">
                <a:solidFill>
                  <a:srgbClr val="002060"/>
                </a:solidFill>
              </a:rPr>
              <a:t>: Thermodynamically predicted morphology (rhombic dodecahedron) emerges when kinetic limitations are removed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002060"/>
                </a:solidFill>
              </a:rPr>
              <a:t>REFERENCES:</a:t>
            </a:r>
          </a:p>
          <a:p>
            <a:r>
              <a:rPr lang="en-US" sz="1000" dirty="0"/>
              <a:t>Yuan, X.; Liu, B.; Mecklenburg, M.; Li, Y. Ultrafast deposition of faceted lithium290. 291. </a:t>
            </a:r>
          </a:p>
          <a:p>
            <a:r>
              <a:rPr lang="en-US" sz="1000" dirty="0" err="1"/>
              <a:t>polyhedra</a:t>
            </a:r>
            <a:r>
              <a:rPr lang="en-US" sz="1000" dirty="0"/>
              <a:t> by outpacing SEI formation. Nature 2023 620:7972 2023, 620, 86–91.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endParaRPr lang="en-US" sz="1600" kern="1200" dirty="0">
              <a:solidFill>
                <a:srgbClr val="002060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6EA69D8-F988-E619-3AB4-27D0EC6C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365125"/>
            <a:ext cx="10515600" cy="540000"/>
          </a:xfrm>
        </p:spPr>
        <p:txBody>
          <a:bodyPr anchor="ctr">
            <a:normAutofit/>
          </a:bodyPr>
          <a:lstStyle/>
          <a:p>
            <a:r>
              <a:rPr lang="en-GB" dirty="0"/>
              <a:t>Lithium Wulff shapes – PT 2</a:t>
            </a:r>
            <a:endParaRPr lang="en-GB"/>
          </a:p>
        </p:txBody>
      </p:sp>
      <p:sp>
        <p:nvSpPr>
          <p:cNvPr id="1033" name="Slide Number Placeholder 3">
            <a:extLst>
              <a:ext uri="{FF2B5EF4-FFF2-40B4-BE49-F238E27FC236}">
                <a16:creationId xmlns:a16="http://schemas.microsoft.com/office/drawing/2014/main" id="{7E911DB8-6F12-23CD-E677-7DF7544AF68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0617200" y="6163628"/>
            <a:ext cx="106172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41C5A579-CF16-4B3F-828F-FC681546EC15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pic>
        <p:nvPicPr>
          <p:cNvPr id="1028" name="Picture 4" descr="Fig. 1">
            <a:extLst>
              <a:ext uri="{FF2B5EF4-FFF2-40B4-BE49-F238E27FC236}">
                <a16:creationId xmlns:a16="http://schemas.microsoft.com/office/drawing/2014/main" id="{A26ED830-0B43-9157-8A16-3153658BF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2" r="5579" b="-2"/>
          <a:stretch>
            <a:fillRect/>
          </a:stretch>
        </p:blipFill>
        <p:spPr bwMode="auto">
          <a:xfrm>
            <a:off x="6282188" y="1239519"/>
            <a:ext cx="5355983" cy="5103464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784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714CA-38A3-E0A6-6325-55F8962B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961" y="345450"/>
            <a:ext cx="9437519" cy="99052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Potential-MEDIATED Competitive Adsorption OF SEI COMPONENTS: F⁻, O²⁻ and CO₃²⁻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BD517-04BC-9A6D-C83C-AB2E37049BD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1C5A579-CF16-4B3F-828F-FC681546EC15}" type="slidenum">
              <a:rPr lang="en-GB" dirty="0" smtClean="0"/>
              <a:pPr/>
              <a:t>4</a:t>
            </a:fld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B8EB1D-64CF-7A38-9C1F-02674ED12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6" t="3134" r="16726" b="1892"/>
          <a:stretch>
            <a:fillRect/>
          </a:stretch>
        </p:blipFill>
        <p:spPr>
          <a:xfrm>
            <a:off x="8003031" y="2253310"/>
            <a:ext cx="1804417" cy="2930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CA4252-156A-B625-C0EF-6B053DC9F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895" t="18910" r="29521" b="25662"/>
          <a:stretch>
            <a:fillRect/>
          </a:stretch>
        </p:blipFill>
        <p:spPr>
          <a:xfrm>
            <a:off x="9955781" y="2194560"/>
            <a:ext cx="1999488" cy="2930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D177D15-59EB-D231-FBDF-91EE160D4407}"/>
              </a:ext>
            </a:extLst>
          </p:cNvPr>
          <p:cNvSpPr txBox="1"/>
          <p:nvPr/>
        </p:nvSpPr>
        <p:spPr>
          <a:xfrm>
            <a:off x="293624" y="1927732"/>
            <a:ext cx="5095240" cy="4497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>
                <a:solidFill>
                  <a:srgbClr val="002060"/>
                </a:solidFill>
              </a:rPr>
              <a:t>Simulations: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kern="1200" dirty="0">
              <a:solidFill>
                <a:srgbClr val="002060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</a:rPr>
              <a:t>Calculating adsorption energies of F⁻, O²⁻, and CO₃²⁻ on all possible sites (top, bridge, 4-fold) across voltage-dependent dominant Li surfaces.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</a:rPr>
              <a:t>Determining how applied potential affects competitive adsorption preferences between these key SEI components.</a:t>
            </a:r>
          </a:p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</a:rPr>
              <a:t>Identifying voltage thresholds where preferential binding shifts between ions, explaining why cycling protocols directly influence SEI composition.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942494-749E-4053-6355-224F6C888B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835" t="9739" r="23322" b="13364"/>
          <a:stretch>
            <a:fillRect/>
          </a:stretch>
        </p:blipFill>
        <p:spPr>
          <a:xfrm>
            <a:off x="5993389" y="2194560"/>
            <a:ext cx="1861309" cy="278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880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Faraday custom colours">
      <a:dk1>
        <a:srgbClr val="000000"/>
      </a:dk1>
      <a:lt1>
        <a:srgbClr val="FFFFFF"/>
      </a:lt1>
      <a:dk2>
        <a:srgbClr val="636466"/>
      </a:dk2>
      <a:lt2>
        <a:srgbClr val="FFFFFF"/>
      </a:lt2>
      <a:accent1>
        <a:srgbClr val="2B3380"/>
      </a:accent1>
      <a:accent2>
        <a:srgbClr val="ED1C24"/>
      </a:accent2>
      <a:accent3>
        <a:srgbClr val="636466"/>
      </a:accent3>
      <a:accent4>
        <a:srgbClr val="3DA8C6"/>
      </a:accent4>
      <a:accent5>
        <a:srgbClr val="FDB515"/>
      </a:accent5>
      <a:accent6>
        <a:srgbClr val="96C339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Custom Design">
  <a:themeElements>
    <a:clrScheme name="Faraday custom colours">
      <a:dk1>
        <a:srgbClr val="000000"/>
      </a:dk1>
      <a:lt1>
        <a:srgbClr val="FFFFFF"/>
      </a:lt1>
      <a:dk2>
        <a:srgbClr val="636466"/>
      </a:dk2>
      <a:lt2>
        <a:srgbClr val="FFFFFF"/>
      </a:lt2>
      <a:accent1>
        <a:srgbClr val="2B3380"/>
      </a:accent1>
      <a:accent2>
        <a:srgbClr val="ED1C24"/>
      </a:accent2>
      <a:accent3>
        <a:srgbClr val="636466"/>
      </a:accent3>
      <a:accent4>
        <a:srgbClr val="3DA8C6"/>
      </a:accent4>
      <a:accent5>
        <a:srgbClr val="FDB515"/>
      </a:accent5>
      <a:accent6>
        <a:srgbClr val="96C339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2656A422E11F4CB7271A70685B1A02" ma:contentTypeVersion="37" ma:contentTypeDescription="Create a new document." ma:contentTypeScope="" ma:versionID="06550bb751f5b7cf5c1b7a5dd647d080">
  <xsd:schema xmlns:xsd="http://www.w3.org/2001/XMLSchema" xmlns:xs="http://www.w3.org/2001/XMLSchema" xmlns:p="http://schemas.microsoft.com/office/2006/metadata/properties" xmlns:ns2="459e2e5e-59d0-40b8-99ab-77e2cbf4e8e3" xmlns:ns3="bb80e634-9fa8-427d-898c-42a1f63a0789" targetNamespace="http://schemas.microsoft.com/office/2006/metadata/properties" ma:root="true" ma:fieldsID="9b649c53c0fa120e02a6b8b3478b1495" ns2:_="" ns3:_="">
    <xsd:import namespace="459e2e5e-59d0-40b8-99ab-77e2cbf4e8e3"/>
    <xsd:import namespace="bb80e634-9fa8-427d-898c-42a1f63a07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Location" minOccurs="0"/>
                <xsd:element ref="ns2:Distribution_Groups" minOccurs="0"/>
                <xsd:element ref="ns2:LMS_Mappin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9e2e5e-59d0-40b8-99ab-77e2cbf4e8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NotebookType" ma:index="12" nillable="true" ma:displayName="Notebook Type" ma:internalName="NotebookType">
      <xsd:simpleType>
        <xsd:restriction base="dms:Text"/>
      </xsd:simpleType>
    </xsd:element>
    <xsd:element name="FolderType" ma:index="13" nillable="true" ma:displayName="Folder Type" ma:internalName="FolderType">
      <xsd:simpleType>
        <xsd:restriction base="dms:Text"/>
      </xsd:simpleType>
    </xsd:element>
    <xsd:element name="CultureName" ma:index="14" nillable="true" ma:displayName="Culture Name" ma:internalName="CultureName">
      <xsd:simpleType>
        <xsd:restriction base="dms:Text"/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msChannelId" ma:index="16" nillable="true" ma:displayName="Teams Channel Id" ma:internalName="TeamsChannelId">
      <xsd:simpleType>
        <xsd:restriction base="dms:Text"/>
      </xsd:simpleType>
    </xsd:element>
    <xsd:element name="Owner" ma:index="17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8" nillable="true" ma:displayName="Math Settings" ma:internalName="Math_Settings">
      <xsd:simpleType>
        <xsd:restriction base="dms:Text"/>
      </xsd:simpleType>
    </xsd:element>
    <xsd:element name="DefaultSectionNames" ma:index="19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0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1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22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23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Leaders" ma:index="2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8" nillable="true" ma:displayName="Is Collaboration Space Locked" ma:internalName="Is_Collaboration_Space_Locked">
      <xsd:simpleType>
        <xsd:restriction base="dms:Boolean"/>
      </xsd:simpleType>
    </xsd:element>
    <xsd:element name="IsNotebookLocked" ma:index="29" nillable="true" ma:displayName="Is Notebook Locked" ma:internalName="IsNotebookLocked">
      <xsd:simpleType>
        <xsd:restriction base="dms:Boolean"/>
      </xsd:simpleType>
    </xsd:element>
    <xsd:element name="MediaServiceLocation" ma:index="30" nillable="true" ma:displayName="Location" ma:internalName="MediaServiceLocation" ma:readOnly="true">
      <xsd:simpleType>
        <xsd:restriction base="dms:Text"/>
      </xsd:simple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3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80e634-9fa8-427d-898c-42a1f63a0789" elementFormDefault="qualified">
    <xsd:import namespace="http://schemas.microsoft.com/office/2006/documentManagement/types"/>
    <xsd:import namespace="http://schemas.microsoft.com/office/infopath/2007/PartnerControls"/>
    <xsd:element name="SharedWithUsers" ma:index="3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9c40440f-a264-46c0-b6b1-4b5f5d28cbee}" ma:internalName="TaxCatchAll" ma:showField="CatchAllData" ma:web="bb80e634-9fa8-427d-898c-42a1f63a07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459e2e5e-59d0-40b8-99ab-77e2cbf4e8e3" xsi:nil="true"/>
    <Teams_Channel_Section_Location xmlns="459e2e5e-59d0-40b8-99ab-77e2cbf4e8e3" xsi:nil="true"/>
    <Invited_Members xmlns="459e2e5e-59d0-40b8-99ab-77e2cbf4e8e3" xsi:nil="true"/>
    <Is_Collaboration_Space_Locked xmlns="459e2e5e-59d0-40b8-99ab-77e2cbf4e8e3" xsi:nil="true"/>
    <CultureName xmlns="459e2e5e-59d0-40b8-99ab-77e2cbf4e8e3" xsi:nil="true"/>
    <Leaders xmlns="459e2e5e-59d0-40b8-99ab-77e2cbf4e8e3">
      <UserInfo>
        <DisplayName/>
        <AccountId xsi:nil="true"/>
        <AccountType/>
      </UserInfo>
    </Leaders>
    <Distribution_Groups xmlns="459e2e5e-59d0-40b8-99ab-77e2cbf4e8e3" xsi:nil="true"/>
    <Self_Registration_Enabled xmlns="459e2e5e-59d0-40b8-99ab-77e2cbf4e8e3" xsi:nil="true"/>
    <Invited_Leaders xmlns="459e2e5e-59d0-40b8-99ab-77e2cbf4e8e3" xsi:nil="true"/>
    <Math_Settings xmlns="459e2e5e-59d0-40b8-99ab-77e2cbf4e8e3" xsi:nil="true"/>
    <Member_Groups xmlns="459e2e5e-59d0-40b8-99ab-77e2cbf4e8e3">
      <UserInfo>
        <DisplayName/>
        <AccountId xsi:nil="true"/>
        <AccountType/>
      </UserInfo>
    </Member_Groups>
    <AppVersion xmlns="459e2e5e-59d0-40b8-99ab-77e2cbf4e8e3" xsi:nil="true"/>
    <TeamsChannelId xmlns="459e2e5e-59d0-40b8-99ab-77e2cbf4e8e3" xsi:nil="true"/>
    <NotebookType xmlns="459e2e5e-59d0-40b8-99ab-77e2cbf4e8e3" xsi:nil="true"/>
    <FolderType xmlns="459e2e5e-59d0-40b8-99ab-77e2cbf4e8e3" xsi:nil="true"/>
    <Templates xmlns="459e2e5e-59d0-40b8-99ab-77e2cbf4e8e3" xsi:nil="true"/>
    <Members xmlns="459e2e5e-59d0-40b8-99ab-77e2cbf4e8e3">
      <UserInfo>
        <DisplayName/>
        <AccountId xsi:nil="true"/>
        <AccountType/>
      </UserInfo>
    </Members>
    <IsNotebookLocked xmlns="459e2e5e-59d0-40b8-99ab-77e2cbf4e8e3" xsi:nil="true"/>
    <LMS_Mappings xmlns="459e2e5e-59d0-40b8-99ab-77e2cbf4e8e3" xsi:nil="true"/>
    <Owner xmlns="459e2e5e-59d0-40b8-99ab-77e2cbf4e8e3">
      <UserInfo>
        <DisplayName/>
        <AccountId xsi:nil="true"/>
        <AccountType/>
      </UserInfo>
    </Owner>
    <Has_Leaders_Only_SectionGroup xmlns="459e2e5e-59d0-40b8-99ab-77e2cbf4e8e3" xsi:nil="true"/>
    <lcf76f155ced4ddcb4097134ff3c332f xmlns="459e2e5e-59d0-40b8-99ab-77e2cbf4e8e3">
      <Terms xmlns="http://schemas.microsoft.com/office/infopath/2007/PartnerControls"/>
    </lcf76f155ced4ddcb4097134ff3c332f>
    <TaxCatchAll xmlns="bb80e634-9fa8-427d-898c-42a1f63a078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A391D1-E4FA-41A8-BDAB-F4061AF0F4F0}">
  <ds:schemaRefs>
    <ds:schemaRef ds:uri="459e2e5e-59d0-40b8-99ab-77e2cbf4e8e3"/>
    <ds:schemaRef ds:uri="bb80e634-9fa8-427d-898c-42a1f63a078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4E9844-4AFB-46F3-AA21-1AB1A3D02EF4}">
  <ds:schemaRefs>
    <ds:schemaRef ds:uri="http://schemas.microsoft.com/office/2006/metadata/properties"/>
    <ds:schemaRef ds:uri="http://www.w3.org/XML/1998/namespace"/>
    <ds:schemaRef ds:uri="459e2e5e-59d0-40b8-99ab-77e2cbf4e8e3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bb80e634-9fa8-427d-898c-42a1f63a0789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5509BDC-E805-4F7C-9A9B-F34755EFE3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</TotalTime>
  <Words>291</Words>
  <Application>Microsoft Macintosh PowerPoint</Application>
  <PresentationFormat>Widescreen</PresentationFormat>
  <Paragraphs>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Calibri Regular</vt:lpstr>
      <vt:lpstr>Custom Design</vt:lpstr>
      <vt:lpstr>3_Custom Design</vt:lpstr>
      <vt:lpstr>WP1 – MSM                         </vt:lpstr>
      <vt:lpstr>Lithium Wulff shapes</vt:lpstr>
      <vt:lpstr>Lithium Wulff shapes – PT 2</vt:lpstr>
      <vt:lpstr>Potential-MEDIATED Competitive Adsorption OF SEI COMPONENTS: F⁻, O²⁻ and CO₃²⁻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Howard</dc:creator>
  <cp:lastModifiedBy>Brad Ayers</cp:lastModifiedBy>
  <cp:revision>162</cp:revision>
  <cp:lastPrinted>2018-08-16T13:15:34Z</cp:lastPrinted>
  <dcterms:created xsi:type="dcterms:W3CDTF">2018-08-15T15:48:17Z</dcterms:created>
  <dcterms:modified xsi:type="dcterms:W3CDTF">2025-05-15T13:51:44Z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0x010100042656A422E11F4CB7271A70685B1A02</vt:lpwstr>
  </property>
  <property fmtid="{D5CDD505-2E9C-101B-9397-08002B2CF9AE}" pid="3" name="Order">
    <vt:r8>104200</vt:r8>
  </property>
  <property fmtid="{D5CDD505-2E9C-101B-9397-08002B2CF9AE}" pid="4" name="MediaServiceImageTags">
    <vt:lpwstr/>
  </property>
</Properties>
</file>